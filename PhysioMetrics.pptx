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1" r:id="rId5"/>
    <p:sldId id="260" r:id="rId6"/>
    <p:sldId id="265" r:id="rId7"/>
    <p:sldId id="266" r:id="rId8"/>
    <p:sldId id="264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27" d="100"/>
          <a:sy n="27" d="100"/>
        </p:scale>
        <p:origin x="1229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Damasceno" userId="2abfb9e8981f436d" providerId="LiveId" clId="{4B17D593-9063-40A3-8671-4A6FBDA939DC}"/>
    <pc:docChg chg="delSld">
      <pc:chgData name="Thiago Damasceno" userId="2abfb9e8981f436d" providerId="LiveId" clId="{4B17D593-9063-40A3-8671-4A6FBDA939DC}" dt="2026-10-10T14:30:21.658" v="0" actId="2696"/>
      <pc:docMkLst>
        <pc:docMk/>
      </pc:docMkLst>
      <pc:sldChg chg="del">
        <pc:chgData name="Thiago Damasceno" userId="2abfb9e8981f436d" providerId="LiveId" clId="{4B17D593-9063-40A3-8671-4A6FBDA939DC}" dt="2026-10-10T14:30:21.658" v="0" actId="2696"/>
        <pc:sldMkLst>
          <pc:docMk/>
          <pc:sldMk cId="271896149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233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758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520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954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152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693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681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062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135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452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9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283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8611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2469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0271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7583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508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419F8B7-CB72-417A-BE81-A5193E536F2A}" type="datetimeFigureOut">
              <a:rPr lang="pt-PT" smtClean="0"/>
              <a:t>10/10/2026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207A308-5ADB-41DA-BAEE-7288DB05E01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778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92427-C6FF-F25D-F3E2-6F35E8AA9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321" y="1630716"/>
            <a:ext cx="9144000" cy="1641490"/>
          </a:xfrm>
        </p:spPr>
        <p:txBody>
          <a:bodyPr>
            <a:normAutofit/>
          </a:bodyPr>
          <a:lstStyle/>
          <a:p>
            <a:pPr algn="ctr"/>
            <a:r>
              <a:rPr lang="pt-PT" dirty="0" err="1"/>
              <a:t>PhysioMetrics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2F0EE6-EBC3-7D3E-60FC-2DD6AD063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8597" y="4948420"/>
            <a:ext cx="9144000" cy="754025"/>
          </a:xfrm>
        </p:spPr>
        <p:txBody>
          <a:bodyPr>
            <a:noAutofit/>
          </a:bodyPr>
          <a:lstStyle/>
          <a:p>
            <a:pPr algn="ctr"/>
            <a:r>
              <a:rPr lang="pt-PT" sz="1400" dirty="0"/>
              <a:t>João Guilherme de Melo, Gabriel Silva </a:t>
            </a:r>
            <a:r>
              <a:rPr lang="pt-PT" sz="1400" dirty="0" err="1"/>
              <a:t>Barroncas</a:t>
            </a:r>
            <a:r>
              <a:rPr lang="pt-PT" sz="1400" dirty="0"/>
              <a:t> e </a:t>
            </a:r>
          </a:p>
          <a:p>
            <a:pPr algn="ctr"/>
            <a:r>
              <a:rPr lang="pt-PT" sz="1400" dirty="0"/>
              <a:t>Thiago Oliveira Damasceno – Projeto Integrador (EFIS3003)</a:t>
            </a:r>
          </a:p>
          <a:p>
            <a:pPr algn="ctr"/>
            <a:r>
              <a:rPr lang="pt-PT" sz="1400" dirty="0"/>
              <a:t>Departamento de Física e Astronomia da Faculdade de Ciência da Universidade do Porto</a:t>
            </a:r>
          </a:p>
          <a:p>
            <a:pPr algn="ctr"/>
            <a:r>
              <a:rPr lang="pt-PT" sz="1400" dirty="0"/>
              <a:t>06 de Julho de 2025</a:t>
            </a:r>
          </a:p>
        </p:txBody>
      </p:sp>
      <p:pic>
        <p:nvPicPr>
          <p:cNvPr id="17" name="Imagem 16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9AACAA2D-D960-BCA4-4A5C-E2B3030A6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884" y="-2235608"/>
            <a:ext cx="6858000" cy="6858000"/>
          </a:xfrm>
          <a:prstGeom prst="rect">
            <a:avLst/>
          </a:prstGeom>
        </p:spPr>
      </p:pic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70D72EF5-7C73-CFB9-352E-4FF6EB707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321" y="3237482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83C22D42-8687-3B8C-3D2E-185F59192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3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F7B3-BBC1-36BB-29CF-C8E520B2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162F0-7076-D2A9-355D-64F4E149E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Problema: Identificação de maus </a:t>
            </a:r>
            <a:br>
              <a:rPr lang="pt-PT" sz="4400" dirty="0"/>
            </a:br>
            <a:r>
              <a:rPr lang="pt-PT" sz="4400" dirty="0"/>
              <a:t>hábitos de corrida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7E3157-41C0-A2C9-9BEC-FA35FF426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432" y="2409530"/>
            <a:ext cx="5449747" cy="312459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PT" sz="1400" dirty="0"/>
              <a:t>Como maus hábitos de corrida podem afetar a vida do atleta. Um exemplo conhecido: </a:t>
            </a:r>
            <a:r>
              <a:rPr lang="pt-PT" sz="1400" dirty="0" err="1"/>
              <a:t>Canelite</a:t>
            </a:r>
            <a:r>
              <a:rPr lang="pt-PT" sz="1400" dirty="0"/>
              <a:t>.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B26ED34B-B519-8177-F8B8-83E99A2C2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62089">
            <a:off x="-1152714" y="4109690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6942DEB6-BE3C-83CD-D6AD-0DEBC5A09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E189AD3D-C5D4-32E5-5CF0-AB6C3772A8E7}"/>
              </a:ext>
            </a:extLst>
          </p:cNvPr>
          <p:cNvGrpSpPr/>
          <p:nvPr/>
        </p:nvGrpSpPr>
        <p:grpSpPr>
          <a:xfrm>
            <a:off x="6762990" y="1964899"/>
            <a:ext cx="4591775" cy="3774954"/>
            <a:chOff x="6762990" y="1964899"/>
            <a:chExt cx="4591775" cy="377495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6162DDD-4476-6026-072B-84D63CCF7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58113" y="1964899"/>
              <a:ext cx="4184021" cy="3182845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069B7E8-40EB-62A8-CF02-9C5FE233C354}"/>
                </a:ext>
              </a:extLst>
            </p:cNvPr>
            <p:cNvSpPr txBox="1"/>
            <p:nvPr/>
          </p:nvSpPr>
          <p:spPr>
            <a:xfrm>
              <a:off x="6762990" y="5324355"/>
              <a:ext cx="459177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50" dirty="0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Imagem ilustrativa da </a:t>
              </a:r>
              <a:r>
                <a:rPr lang="pt-PT" sz="1050" dirty="0" err="1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canelite</a:t>
              </a:r>
              <a:r>
                <a:rPr lang="pt-PT" sz="1050" dirty="0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 — Foto: www.institutodefisioterapia.com.br/canelite</a:t>
              </a:r>
            </a:p>
          </p:txBody>
        </p:sp>
      </p:grpSp>
      <p:sp>
        <p:nvSpPr>
          <p:cNvPr id="9" name="Subtítulo 2">
            <a:extLst>
              <a:ext uri="{FF2B5EF4-FFF2-40B4-BE49-F238E27FC236}">
                <a16:creationId xmlns:a16="http://schemas.microsoft.com/office/drawing/2014/main" id="{F5ECCC2D-FF96-3447-1F06-3E9E00DFA9A2}"/>
              </a:ext>
            </a:extLst>
          </p:cNvPr>
          <p:cNvSpPr txBox="1">
            <a:spLocks/>
          </p:cNvSpPr>
          <p:nvPr/>
        </p:nvSpPr>
        <p:spPr>
          <a:xfrm>
            <a:off x="777432" y="3051987"/>
            <a:ext cx="5449747" cy="5649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PT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PT" sz="1400" dirty="0"/>
              <a:t>A dificuldade de fisioterapeutas no acesso a equipamentos que ajudem no diagnóstico.</a:t>
            </a:r>
          </a:p>
        </p:txBody>
      </p:sp>
    </p:spTree>
    <p:extLst>
      <p:ext uri="{BB962C8B-B14F-4D97-AF65-F5344CB8AC3E}">
        <p14:creationId xmlns:p14="http://schemas.microsoft.com/office/powerpoint/2010/main" val="60898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9C8F-028F-CC26-8AEF-3BEAED8C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B7B94-7EF1-E727-ED8B-E66C2873F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Solução encontrada no mercado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308E0887-FEDD-7DBF-272B-15A6641BC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78086">
            <a:off x="-2255840" y="4196177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25DC4913-C261-9F00-6F6B-F2548EAD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pic>
        <p:nvPicPr>
          <p:cNvPr id="5" name="Imagem 4" descr="Uma imagem com Gráficos, Tipo de letra, logótipo, design gráfico&#10;&#10;Os conteúdos gerados por IA podem estar incorretos.">
            <a:extLst>
              <a:ext uri="{FF2B5EF4-FFF2-40B4-BE49-F238E27FC236}">
                <a16:creationId xmlns:a16="http://schemas.microsoft.com/office/drawing/2014/main" id="{10AE6792-6AAA-8054-5C5E-55FB218D1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89" y="1862860"/>
            <a:ext cx="2714625" cy="1419225"/>
          </a:xfrm>
          <a:prstGeom prst="rect">
            <a:avLst/>
          </a:prstGeom>
        </p:spPr>
      </p:pic>
      <p:pic>
        <p:nvPicPr>
          <p:cNvPr id="11" name="Imagem 10" descr="Uma imagem com dançar, entretenimento, pessoa, atuação&#10;&#10;Os conteúdos gerados por IA podem estar incorretos.">
            <a:extLst>
              <a:ext uri="{FF2B5EF4-FFF2-40B4-BE49-F238E27FC236}">
                <a16:creationId xmlns:a16="http://schemas.microsoft.com/office/drawing/2014/main" id="{23384828-7DF9-ED88-C90F-4F0517D00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275" y="1761534"/>
            <a:ext cx="3354611" cy="1886969"/>
          </a:xfrm>
          <a:prstGeom prst="rect">
            <a:avLst/>
          </a:prstGeom>
        </p:spPr>
      </p:pic>
      <p:sp>
        <p:nvSpPr>
          <p:cNvPr id="14" name="Subtítulo 2">
            <a:extLst>
              <a:ext uri="{FF2B5EF4-FFF2-40B4-BE49-F238E27FC236}">
                <a16:creationId xmlns:a16="http://schemas.microsoft.com/office/drawing/2014/main" id="{17FF9912-F8E7-9827-6BE9-B45DD0E0A4EB}"/>
              </a:ext>
            </a:extLst>
          </p:cNvPr>
          <p:cNvSpPr txBox="1">
            <a:spLocks/>
          </p:cNvSpPr>
          <p:nvPr/>
        </p:nvSpPr>
        <p:spPr>
          <a:xfrm>
            <a:off x="3766540" y="4238213"/>
            <a:ext cx="5449747" cy="3124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800" dirty="0"/>
              <a:t>Qual o problema?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6FD916AC-B96D-00F0-BA05-0711EE97D90D}"/>
              </a:ext>
            </a:extLst>
          </p:cNvPr>
          <p:cNvSpPr txBox="1">
            <a:spLocks/>
          </p:cNvSpPr>
          <p:nvPr/>
        </p:nvSpPr>
        <p:spPr>
          <a:xfrm>
            <a:off x="7775775" y="4659535"/>
            <a:ext cx="3616124" cy="5899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600" dirty="0"/>
              <a:t>Equipamentos especializados apenas para atletas de alto rendimento…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FC7F923-B706-0A4D-D541-057A4C924953}"/>
              </a:ext>
            </a:extLst>
          </p:cNvPr>
          <p:cNvGrpSpPr/>
          <p:nvPr/>
        </p:nvGrpSpPr>
        <p:grpSpPr>
          <a:xfrm>
            <a:off x="3499833" y="4550672"/>
            <a:ext cx="3616124" cy="1364082"/>
            <a:chOff x="3499833" y="4550672"/>
            <a:chExt cx="3616124" cy="1364082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F5974B80-5A20-4D6F-7BDC-EFC1147DAD32}"/>
                </a:ext>
              </a:extLst>
            </p:cNvPr>
            <p:cNvSpPr txBox="1">
              <a:spLocks/>
            </p:cNvSpPr>
            <p:nvPr/>
          </p:nvSpPr>
          <p:spPr>
            <a:xfrm>
              <a:off x="3499833" y="4871303"/>
              <a:ext cx="3616124" cy="104345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2000" dirty="0"/>
                <a:t>Kits para análise de movimento </a:t>
              </a:r>
            </a:p>
            <a:p>
              <a:pPr algn="ctr"/>
              <a:r>
                <a:rPr lang="pt-PT" sz="2000" dirty="0"/>
                <a:t>com preço &gt;10.000€</a:t>
              </a:r>
            </a:p>
          </p:txBody>
        </p:sp>
        <p:sp>
          <p:nvSpPr>
            <p:cNvPr id="17" name="Seta: Para Baixo 16">
              <a:extLst>
                <a:ext uri="{FF2B5EF4-FFF2-40B4-BE49-F238E27FC236}">
                  <a16:creationId xmlns:a16="http://schemas.microsoft.com/office/drawing/2014/main" id="{F496FD6D-C62F-29F7-20EB-5B940347F80C}"/>
                </a:ext>
              </a:extLst>
            </p:cNvPr>
            <p:cNvSpPr/>
            <p:nvPr/>
          </p:nvSpPr>
          <p:spPr>
            <a:xfrm>
              <a:off x="5000263" y="4550672"/>
              <a:ext cx="393540" cy="58971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22" name="Imagem 21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9C14D702-01AC-51FF-11C2-F954FD3EC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68705">
            <a:off x="7585246" y="4691493"/>
            <a:ext cx="6858000" cy="6858000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912AF29D-024C-EA02-1C87-781F590AC609}"/>
              </a:ext>
            </a:extLst>
          </p:cNvPr>
          <p:cNvSpPr txBox="1">
            <a:spLocks/>
          </p:cNvSpPr>
          <p:nvPr/>
        </p:nvSpPr>
        <p:spPr>
          <a:xfrm>
            <a:off x="3982364" y="2617232"/>
            <a:ext cx="2509049" cy="4061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2000" dirty="0"/>
              <a:t>Excelente!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ED875BE-2420-E461-A634-4AE353A2181B}"/>
              </a:ext>
            </a:extLst>
          </p:cNvPr>
          <p:cNvGrpSpPr/>
          <p:nvPr/>
        </p:nvGrpSpPr>
        <p:grpSpPr>
          <a:xfrm>
            <a:off x="3327763" y="2007871"/>
            <a:ext cx="3788194" cy="882006"/>
            <a:chOff x="3327763" y="2007871"/>
            <a:chExt cx="3788194" cy="882006"/>
          </a:xfrm>
        </p:grpSpPr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852D28C5-DBEB-CB83-22F7-410E84E16BAD}"/>
                </a:ext>
              </a:extLst>
            </p:cNvPr>
            <p:cNvSpPr/>
            <p:nvPr/>
          </p:nvSpPr>
          <p:spPr>
            <a:xfrm>
              <a:off x="3327763" y="2446072"/>
              <a:ext cx="775504" cy="4438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E382DD12-37A2-37E7-7478-5E81380A63F0}"/>
                </a:ext>
              </a:extLst>
            </p:cNvPr>
            <p:cNvSpPr txBox="1">
              <a:spLocks/>
            </p:cNvSpPr>
            <p:nvPr/>
          </p:nvSpPr>
          <p:spPr>
            <a:xfrm>
              <a:off x="3499833" y="2007871"/>
              <a:ext cx="3616124" cy="58994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2000" dirty="0"/>
                <a:t>Fazem um trabalho…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117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5C5F8-9E3B-B10E-6143-1C8ED0CA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05D37-CDF3-47F8-F5AE-49FD5C00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Nossa solução: Uma ferramenta </a:t>
            </a:r>
            <a:br>
              <a:rPr lang="pt-PT" sz="4400" dirty="0"/>
            </a:br>
            <a:r>
              <a:rPr lang="pt-PT" sz="4400" dirty="0"/>
              <a:t>prática  </a:t>
            </a:r>
            <a:r>
              <a:rPr lang="pt-PT" sz="4400"/>
              <a:t>e acessível</a:t>
            </a:r>
            <a:endParaRPr lang="pt-PT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EBB649-593E-A497-461B-551FFCFAA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432" y="2372053"/>
            <a:ext cx="5449747" cy="312459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PT" sz="1400" dirty="0"/>
              <a:t>Um kit com eletrónica, câmara e uma interface digital.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8CB6BA17-F2D8-E705-03D8-2D9E9C369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62089">
            <a:off x="-1060116" y="3742215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F98704C9-53E9-F81A-AF80-5A1D410D3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5D0C2F16-9B11-B775-6B28-2E54B6360FE4}"/>
              </a:ext>
            </a:extLst>
          </p:cNvPr>
          <p:cNvGrpSpPr/>
          <p:nvPr/>
        </p:nvGrpSpPr>
        <p:grpSpPr>
          <a:xfrm>
            <a:off x="7304206" y="1698062"/>
            <a:ext cx="3719605" cy="4640930"/>
            <a:chOff x="7304206" y="1698062"/>
            <a:chExt cx="3719605" cy="464093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8AE4B20-587B-A4FC-B7AC-FF9A1DAA1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04206" y="1698062"/>
              <a:ext cx="3648439" cy="2364644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5" name="Imagem 4" descr="Uma imagem com texto, Retângulo, captura de ecrã, eletrodoméstico&#10;&#10;Os conteúdos gerados por IA podem estar incorretos.">
              <a:extLst>
                <a:ext uri="{FF2B5EF4-FFF2-40B4-BE49-F238E27FC236}">
                  <a16:creationId xmlns:a16="http://schemas.microsoft.com/office/drawing/2014/main" id="{B13E6CCD-E68E-1196-AEB8-476A090F2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4206" y="4310478"/>
              <a:ext cx="3719605" cy="2028514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</p:grpSp>
    </p:spTree>
    <p:extLst>
      <p:ext uri="{BB962C8B-B14F-4D97-AF65-F5344CB8AC3E}">
        <p14:creationId xmlns:p14="http://schemas.microsoft.com/office/powerpoint/2010/main" val="658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F130-C20D-FDC6-6367-5332C976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F16EF-8724-542C-60D4-A802484F8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Diagrama do sistema principal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2FE5E58D-1093-9B93-C5F0-DB1A4B84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62089">
            <a:off x="-1819703" y="3815051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18449997-91F0-9EE0-F756-819401D0C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pic>
        <p:nvPicPr>
          <p:cNvPr id="12" name="Imagem 11" descr="Uma imagem com captura de ecrã, diagrama, Tipo de letra, design&#10;&#10;Os conteúdos gerados por IA podem estar incorretos.">
            <a:extLst>
              <a:ext uri="{FF2B5EF4-FFF2-40B4-BE49-F238E27FC236}">
                <a16:creationId xmlns:a16="http://schemas.microsoft.com/office/drawing/2014/main" id="{E39E1711-DBFD-63CC-3C53-016DA7E7C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99" y="937044"/>
            <a:ext cx="8779001" cy="4983912"/>
          </a:xfrm>
          <a:prstGeom prst="rect">
            <a:avLst/>
          </a:prstGeom>
        </p:spPr>
      </p:pic>
      <p:pic>
        <p:nvPicPr>
          <p:cNvPr id="16" name="Imagem 15" descr="Uma imagem com captura de ecrã, texto, Gráficos, preto&#10;&#10;Os conteúdos gerados por IA podem estar incorretos.">
            <a:extLst>
              <a:ext uri="{FF2B5EF4-FFF2-40B4-BE49-F238E27FC236}">
                <a16:creationId xmlns:a16="http://schemas.microsoft.com/office/drawing/2014/main" id="{A947F7D0-8073-67EB-79EA-50F497EBEF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99" y="937044"/>
            <a:ext cx="8779001" cy="4983912"/>
          </a:xfrm>
          <a:prstGeom prst="rect">
            <a:avLst/>
          </a:prstGeom>
        </p:spPr>
      </p:pic>
      <p:pic>
        <p:nvPicPr>
          <p:cNvPr id="18" name="Imagem 17" descr="Uma imagem com texto, captura de ecrã, diagrama, Esquema&#10;&#10;Os conteúdos gerados por IA podem estar incorretos.">
            <a:extLst>
              <a:ext uri="{FF2B5EF4-FFF2-40B4-BE49-F238E27FC236}">
                <a16:creationId xmlns:a16="http://schemas.microsoft.com/office/drawing/2014/main" id="{37DCDB9B-39B6-A3B6-5AD2-BE01769EC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99" y="937044"/>
            <a:ext cx="8779001" cy="4983912"/>
          </a:xfrm>
          <a:prstGeom prst="rect">
            <a:avLst/>
          </a:prstGeom>
        </p:spPr>
      </p:pic>
      <p:pic>
        <p:nvPicPr>
          <p:cNvPr id="23" name="Imagem 22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5D3083C4-EFE1-0BAB-6F14-7CA196782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752698">
            <a:off x="9310293" y="-1138607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20596-9CFC-15DC-DEFF-0C374F20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8FB25-3B64-D06E-91BC-B64FCC493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181" y="1913539"/>
            <a:ext cx="9695637" cy="3222307"/>
          </a:xfrm>
        </p:spPr>
        <p:txBody>
          <a:bodyPr>
            <a:noAutofit/>
          </a:bodyPr>
          <a:lstStyle/>
          <a:p>
            <a:pPr algn="ctr"/>
            <a:r>
              <a:rPr lang="pt-PT" sz="7200" dirty="0"/>
              <a:t>Um sistema para auxiliar </a:t>
            </a:r>
            <a:br>
              <a:rPr lang="pt-PT" sz="7200" dirty="0"/>
            </a:br>
            <a:r>
              <a:rPr lang="pt-PT" sz="7200" dirty="0"/>
              <a:t>na deteção de hábitos </a:t>
            </a:r>
            <a:br>
              <a:rPr lang="pt-PT" sz="7200" dirty="0"/>
            </a:br>
            <a:r>
              <a:rPr lang="pt-PT" sz="7200" dirty="0"/>
              <a:t>de corrida prejudiciais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3FC5DA5D-65AE-4BB4-FC17-0C94D9917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665939">
            <a:off x="-4191519" y="-1151098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70B5483A-B7D6-5ABF-660D-76844BC10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pic>
        <p:nvPicPr>
          <p:cNvPr id="23" name="Imagem 22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847E4E1E-5365-7F02-80F2-27CBC10BE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49043">
            <a:off x="9333790" y="170684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DAEF-4518-1486-F6A3-51CD0161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6ED85-66BF-C01F-B2E8-4997E20F0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181" y="307613"/>
            <a:ext cx="9695637" cy="3222307"/>
          </a:xfrm>
        </p:spPr>
        <p:txBody>
          <a:bodyPr>
            <a:noAutofit/>
          </a:bodyPr>
          <a:lstStyle/>
          <a:p>
            <a:pPr algn="ctr"/>
            <a:r>
              <a:rPr lang="pt-PT" sz="6600" dirty="0"/>
              <a:t>Utiliza uma montagem </a:t>
            </a:r>
            <a:br>
              <a:rPr lang="pt-PT" sz="6600" dirty="0"/>
            </a:br>
            <a:r>
              <a:rPr lang="pt-PT" sz="6600" dirty="0"/>
              <a:t>eletrónica e um modelo </a:t>
            </a:r>
            <a:br>
              <a:rPr lang="pt-PT" sz="6600" dirty="0"/>
            </a:br>
            <a:r>
              <a:rPr lang="pt-PT" sz="6600" dirty="0"/>
              <a:t>de AI treinado</a:t>
            </a:r>
            <a:br>
              <a:rPr lang="pt-PT" sz="7200" dirty="0"/>
            </a:br>
            <a:endParaRPr lang="pt-PT" sz="7200" dirty="0"/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DFD08F51-4140-6F23-87D7-00955C848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54488">
            <a:off x="-4601732" y="-997923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C4DA133F-CE26-EE95-8CF7-C40F1D4E2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pic>
        <p:nvPicPr>
          <p:cNvPr id="23" name="Imagem 22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0838B5BE-B6B9-DC74-6F4C-688B0309D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27511">
            <a:off x="10173728" y="706459"/>
            <a:ext cx="6858000" cy="6858000"/>
          </a:xfrm>
          <a:prstGeom prst="rect">
            <a:avLst/>
          </a:prstGeom>
        </p:spPr>
      </p:pic>
      <p:pic>
        <p:nvPicPr>
          <p:cNvPr id="4" name="Imagem 3" descr="Uma imagem com sapatos, captura de ecrã, pessoa&#10;&#10;Os conteúdos gerados por IA podem estar incorretos.">
            <a:extLst>
              <a:ext uri="{FF2B5EF4-FFF2-40B4-BE49-F238E27FC236}">
                <a16:creationId xmlns:a16="http://schemas.microsoft.com/office/drawing/2014/main" id="{81AE73F3-9E06-2D6D-C248-2DF0DC09C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81" y="3033934"/>
            <a:ext cx="5274680" cy="3516453"/>
          </a:xfrm>
          <a:prstGeom prst="rect">
            <a:avLst/>
          </a:prstGeom>
        </p:spPr>
      </p:pic>
      <p:pic>
        <p:nvPicPr>
          <p:cNvPr id="6" name="Imagem 5" descr="Uma imagem com diagrama, desenho, esboço&#10;&#10;Os conteúdos gerados por IA podem estar incorretos.">
            <a:extLst>
              <a:ext uri="{FF2B5EF4-FFF2-40B4-BE49-F238E27FC236}">
                <a16:creationId xmlns:a16="http://schemas.microsoft.com/office/drawing/2014/main" id="{163D306C-27FB-A06E-15C6-829B713065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747" y="3087031"/>
            <a:ext cx="2721645" cy="322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9D0B-FE61-8BC1-F992-F17652FE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11920-F244-5871-FBB9-790F8A193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Como os dados são tratados no </a:t>
            </a:r>
            <a:br>
              <a:rPr lang="pt-PT" sz="4400" dirty="0"/>
            </a:br>
            <a:r>
              <a:rPr lang="pt-PT" sz="4400" dirty="0"/>
              <a:t>computador?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D75C24-15B6-6354-8A32-53067EB6E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433" y="2201185"/>
            <a:ext cx="3644096" cy="520804"/>
          </a:xfrm>
        </p:spPr>
        <p:txBody>
          <a:bodyPr>
            <a:noAutofit/>
          </a:bodyPr>
          <a:lstStyle/>
          <a:p>
            <a:pPr algn="ctr"/>
            <a:r>
              <a:rPr lang="pt-PT" sz="1800" dirty="0"/>
              <a:t>Dados do </a:t>
            </a:r>
            <a:r>
              <a:rPr lang="pt-PT" sz="1800" dirty="0" err="1"/>
              <a:t>arduino</a:t>
            </a:r>
            <a:r>
              <a:rPr lang="pt-PT" sz="1800" dirty="0"/>
              <a:t> são recebidos via </a:t>
            </a:r>
            <a:r>
              <a:rPr lang="pt-PT" sz="1800" dirty="0" err="1"/>
              <a:t>Wifi</a:t>
            </a:r>
            <a:r>
              <a:rPr lang="pt-PT" sz="1800" dirty="0"/>
              <a:t> e dados da </a:t>
            </a:r>
            <a:r>
              <a:rPr lang="pt-PT" sz="1800" dirty="0" err="1"/>
              <a:t>WebCam</a:t>
            </a:r>
            <a:r>
              <a:rPr lang="pt-PT" sz="1800" dirty="0"/>
              <a:t> via USB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3870FC4E-E773-1BD5-A7EB-D08D5D78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62089">
            <a:off x="-1152714" y="4109690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EC411E38-EB02-CB7A-180A-D6D1EE299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D796DD5B-42C5-D67B-FDB4-64925B39F790}"/>
              </a:ext>
            </a:extLst>
          </p:cNvPr>
          <p:cNvSpPr txBox="1">
            <a:spLocks/>
          </p:cNvSpPr>
          <p:nvPr/>
        </p:nvSpPr>
        <p:spPr>
          <a:xfrm>
            <a:off x="7379583" y="5823977"/>
            <a:ext cx="4117214" cy="3745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2400" dirty="0"/>
              <a:t>Os resultados são dispostos em gráficos e tabelas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517FA69-2019-F5A9-2395-93DE3B49CDE4}"/>
              </a:ext>
            </a:extLst>
          </p:cNvPr>
          <p:cNvGrpSpPr/>
          <p:nvPr/>
        </p:nvGrpSpPr>
        <p:grpSpPr>
          <a:xfrm>
            <a:off x="2276286" y="2665934"/>
            <a:ext cx="3644096" cy="1397977"/>
            <a:chOff x="2276286" y="2665934"/>
            <a:chExt cx="3644096" cy="1397977"/>
          </a:xfrm>
        </p:grpSpPr>
        <p:sp>
          <p:nvSpPr>
            <p:cNvPr id="6" name="Subtítulo 2">
              <a:extLst>
                <a:ext uri="{FF2B5EF4-FFF2-40B4-BE49-F238E27FC236}">
                  <a16:creationId xmlns:a16="http://schemas.microsoft.com/office/drawing/2014/main" id="{E4865179-D1A5-8DAC-1435-91349F5544B5}"/>
                </a:ext>
              </a:extLst>
            </p:cNvPr>
            <p:cNvSpPr txBox="1">
              <a:spLocks/>
            </p:cNvSpPr>
            <p:nvPr/>
          </p:nvSpPr>
          <p:spPr>
            <a:xfrm>
              <a:off x="2276286" y="3543107"/>
              <a:ext cx="3644096" cy="52080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800" dirty="0"/>
                <a:t>Dados são usados para calcular coisas como: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64B46FA7-CC52-9397-47DC-5A2C33074118}"/>
                </a:ext>
              </a:extLst>
            </p:cNvPr>
            <p:cNvSpPr/>
            <p:nvPr/>
          </p:nvSpPr>
          <p:spPr>
            <a:xfrm rot="19231356">
              <a:off x="3008281" y="2665934"/>
              <a:ext cx="335442" cy="85287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FB44E770-0CB4-84AF-0F56-F7D997EA4157}"/>
              </a:ext>
            </a:extLst>
          </p:cNvPr>
          <p:cNvGrpSpPr/>
          <p:nvPr/>
        </p:nvGrpSpPr>
        <p:grpSpPr>
          <a:xfrm>
            <a:off x="5871100" y="3884838"/>
            <a:ext cx="4245174" cy="834688"/>
            <a:chOff x="5871100" y="3884838"/>
            <a:chExt cx="4245174" cy="834688"/>
          </a:xfrm>
        </p:grpSpPr>
        <p:sp>
          <p:nvSpPr>
            <p:cNvPr id="10" name="Subtítulo 2">
              <a:extLst>
                <a:ext uri="{FF2B5EF4-FFF2-40B4-BE49-F238E27FC236}">
                  <a16:creationId xmlns:a16="http://schemas.microsoft.com/office/drawing/2014/main" id="{8DEB2474-8B7D-8BEA-C462-02DFBEBC2EF4}"/>
                </a:ext>
              </a:extLst>
            </p:cNvPr>
            <p:cNvSpPr txBox="1">
              <a:spLocks/>
            </p:cNvSpPr>
            <p:nvPr/>
          </p:nvSpPr>
          <p:spPr>
            <a:xfrm>
              <a:off x="7161801" y="4345017"/>
              <a:ext cx="2954473" cy="37450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800" dirty="0"/>
                <a:t>Ângulo da perna no impacto com o solo</a:t>
              </a:r>
            </a:p>
          </p:txBody>
        </p:sp>
        <p:sp>
          <p:nvSpPr>
            <p:cNvPr id="16" name="Seta: Para a Direita 15">
              <a:extLst>
                <a:ext uri="{FF2B5EF4-FFF2-40B4-BE49-F238E27FC236}">
                  <a16:creationId xmlns:a16="http://schemas.microsoft.com/office/drawing/2014/main" id="{59985F26-D4C6-1AEF-74C2-2ACBC1B91AF5}"/>
                </a:ext>
              </a:extLst>
            </p:cNvPr>
            <p:cNvSpPr/>
            <p:nvPr/>
          </p:nvSpPr>
          <p:spPr>
            <a:xfrm rot="939756">
              <a:off x="5871100" y="3884838"/>
              <a:ext cx="1302221" cy="2604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F6D1620-E4DD-43C0-7E66-EDA886996FFB}"/>
              </a:ext>
            </a:extLst>
          </p:cNvPr>
          <p:cNvGrpSpPr/>
          <p:nvPr/>
        </p:nvGrpSpPr>
        <p:grpSpPr>
          <a:xfrm>
            <a:off x="3861122" y="3933778"/>
            <a:ext cx="3644096" cy="1600590"/>
            <a:chOff x="3861122" y="3933778"/>
            <a:chExt cx="3644096" cy="1600590"/>
          </a:xfrm>
        </p:grpSpPr>
        <p:sp>
          <p:nvSpPr>
            <p:cNvPr id="11" name="Subtítulo 2">
              <a:extLst>
                <a:ext uri="{FF2B5EF4-FFF2-40B4-BE49-F238E27FC236}">
                  <a16:creationId xmlns:a16="http://schemas.microsoft.com/office/drawing/2014/main" id="{E5C3BA79-1243-959F-E1EE-D18A170BEEF3}"/>
                </a:ext>
              </a:extLst>
            </p:cNvPr>
            <p:cNvSpPr txBox="1">
              <a:spLocks/>
            </p:cNvSpPr>
            <p:nvPr/>
          </p:nvSpPr>
          <p:spPr>
            <a:xfrm>
              <a:off x="3861122" y="5159859"/>
              <a:ext cx="3644096" cy="37450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800" dirty="0"/>
                <a:t>Potência da pisada</a:t>
              </a:r>
            </a:p>
          </p:txBody>
        </p:sp>
        <p:sp>
          <p:nvSpPr>
            <p:cNvPr id="17" name="Seta: Para Baixo 16">
              <a:extLst>
                <a:ext uri="{FF2B5EF4-FFF2-40B4-BE49-F238E27FC236}">
                  <a16:creationId xmlns:a16="http://schemas.microsoft.com/office/drawing/2014/main" id="{15C64001-0707-E8BB-6B09-50711AD9C1DA}"/>
                </a:ext>
              </a:extLst>
            </p:cNvPr>
            <p:cNvSpPr/>
            <p:nvPr/>
          </p:nvSpPr>
          <p:spPr>
            <a:xfrm rot="19276308">
              <a:off x="4762772" y="3933778"/>
              <a:ext cx="248509" cy="130090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15CB327-62E0-C98D-6C8E-B8BC558D96DE}"/>
              </a:ext>
            </a:extLst>
          </p:cNvPr>
          <p:cNvGrpSpPr/>
          <p:nvPr/>
        </p:nvGrpSpPr>
        <p:grpSpPr>
          <a:xfrm>
            <a:off x="4537276" y="1377983"/>
            <a:ext cx="7055264" cy="2296850"/>
            <a:chOff x="4537276" y="1377983"/>
            <a:chExt cx="7055264" cy="2296850"/>
          </a:xfrm>
        </p:grpSpPr>
        <p:sp>
          <p:nvSpPr>
            <p:cNvPr id="5" name="Subtítulo 2">
              <a:extLst>
                <a:ext uri="{FF2B5EF4-FFF2-40B4-BE49-F238E27FC236}">
                  <a16:creationId xmlns:a16="http://schemas.microsoft.com/office/drawing/2014/main" id="{A359C3CC-3D21-8ACF-2C81-98D98684A8B3}"/>
                </a:ext>
              </a:extLst>
            </p:cNvPr>
            <p:cNvSpPr txBox="1">
              <a:spLocks/>
            </p:cNvSpPr>
            <p:nvPr/>
          </p:nvSpPr>
          <p:spPr>
            <a:xfrm>
              <a:off x="5683170" y="2248887"/>
              <a:ext cx="3820040" cy="52080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marL="0" indent="0" algn="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0" kern="1200">
                  <a:gradFill flip="none" rotWithShape="1">
                    <a:gsLst>
                      <a:gs pos="15000">
                        <a:schemeClr val="tx2"/>
                      </a:gs>
                      <a:gs pos="73000">
                        <a:schemeClr val="tx2">
                          <a:lumMod val="60000"/>
                          <a:lumOff val="40000"/>
                        </a:schemeClr>
                      </a:gs>
                      <a:gs pos="0">
                        <a:schemeClr val="tx2">
                          <a:lumMod val="90000"/>
                          <a:lumOff val="10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16200000" scaled="1"/>
                    <a:tileRect/>
                  </a:gra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gradFill>
                    <a:gsLst>
                      <a:gs pos="34000">
                        <a:schemeClr val="tx1">
                          <a:lumMod val="93000"/>
                        </a:schemeClr>
                      </a:gs>
                      <a:gs pos="0">
                        <a:schemeClr val="bg1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0"/>
                          <a:lumOff val="100000"/>
                        </a:schemeClr>
                      </a:gs>
                    </a:gsLst>
                    <a:lin ang="4800000" scaled="0"/>
                  </a:gra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800" dirty="0"/>
                <a:t>Dados da câmara são tratados por um modelo de  AI treinado: </a:t>
              </a:r>
              <a:r>
                <a:rPr lang="pt-PT" sz="1800" dirty="0" err="1"/>
                <a:t>Mediapose</a:t>
              </a:r>
              <a:endParaRPr lang="pt-PT" sz="1800" dirty="0"/>
            </a:p>
          </p:txBody>
        </p:sp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7C1CE99E-7126-DD96-53D2-A39E09C9D085}"/>
                </a:ext>
              </a:extLst>
            </p:cNvPr>
            <p:cNvSpPr/>
            <p:nvPr/>
          </p:nvSpPr>
          <p:spPr>
            <a:xfrm>
              <a:off x="4537276" y="2296589"/>
              <a:ext cx="1145894" cy="3299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0" name="Imagem 19" descr="Uma imagem com diagrama, desenho, esboço&#10;&#10;Os conteúdos gerados por IA podem estar incorretos.">
              <a:extLst>
                <a:ext uri="{FF2B5EF4-FFF2-40B4-BE49-F238E27FC236}">
                  <a16:creationId xmlns:a16="http://schemas.microsoft.com/office/drawing/2014/main" id="{385D097F-B64A-2884-F6C2-944D28FDF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2560" y="1377983"/>
              <a:ext cx="1939980" cy="2296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353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3C8C-9F7B-67B5-1494-04531BE2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28057-229F-7AC6-4F95-209820119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Sistema em funcionamento: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3ECE3741-4FB0-83EB-3958-0D4D38CB0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5537">
            <a:off x="-4850757" y="706732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105706DF-8F5B-8E56-B2FD-3A4340AE42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pic>
        <p:nvPicPr>
          <p:cNvPr id="6" name="VID-20250602-WA0014">
            <a:hlinkClick r:id="" action="ppaction://media"/>
            <a:extLst>
              <a:ext uri="{FF2B5EF4-FFF2-40B4-BE49-F238E27FC236}">
                <a16:creationId xmlns:a16="http://schemas.microsoft.com/office/drawing/2014/main" id="{C3A1FA6A-361D-0EFA-B281-ECF600728B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56136" y="1571247"/>
            <a:ext cx="7879728" cy="4460662"/>
          </a:xfrm>
          <a:prstGeom prst="rect">
            <a:avLst/>
          </a:prstGeom>
        </p:spPr>
      </p:pic>
      <p:pic>
        <p:nvPicPr>
          <p:cNvPr id="10" name="Imagem 9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CC40F575-9C5E-8C03-0D9A-1DEEFAD1E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5537">
            <a:off x="10024641" y="-10492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5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8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FBF5-F22A-5F40-E87B-737E27DE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4BE84-BF13-7319-356D-B634301A7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33" y="750502"/>
            <a:ext cx="6838709" cy="1641490"/>
          </a:xfrm>
        </p:spPr>
        <p:txBody>
          <a:bodyPr>
            <a:normAutofit/>
          </a:bodyPr>
          <a:lstStyle/>
          <a:p>
            <a:pPr algn="l"/>
            <a:r>
              <a:rPr lang="pt-PT" sz="4400" dirty="0"/>
              <a:t>Objetivos alcançados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DDC97B-E1C0-817A-FC18-7D57778B5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957" y="2022570"/>
            <a:ext cx="4674243" cy="370391"/>
          </a:xfrm>
        </p:spPr>
        <p:txBody>
          <a:bodyPr>
            <a:noAutofit/>
          </a:bodyPr>
          <a:lstStyle/>
          <a:p>
            <a:pPr algn="l"/>
            <a:r>
              <a:rPr lang="pt-PT" sz="2000" dirty="0"/>
              <a:t>Um sistema funcional e integrado.</a:t>
            </a:r>
          </a:p>
        </p:txBody>
      </p:sp>
      <p:pic>
        <p:nvPicPr>
          <p:cNvPr id="19" name="Imagem 18" descr="Uma imagem com captura de ecrã, estrela, web, arte&#10;&#10;Os conteúdos gerados por IA podem estar incorretos.">
            <a:extLst>
              <a:ext uri="{FF2B5EF4-FFF2-40B4-BE49-F238E27FC236}">
                <a16:creationId xmlns:a16="http://schemas.microsoft.com/office/drawing/2014/main" id="{85C22DF8-6865-7A98-4505-53CC84B2E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62089">
            <a:off x="-1152714" y="4109690"/>
            <a:ext cx="6858000" cy="6858000"/>
          </a:xfrm>
          <a:prstGeom prst="rect">
            <a:avLst/>
          </a:prstGeom>
        </p:spPr>
      </p:pic>
      <p:pic>
        <p:nvPicPr>
          <p:cNvPr id="21" name="Imagem 20" descr="Uma imagem com Tipo de letra, preto, Gráficos, tipografia&#10;&#10;Os conteúdos gerados por IA podem estar incorretos.">
            <a:extLst>
              <a:ext uri="{FF2B5EF4-FFF2-40B4-BE49-F238E27FC236}">
                <a16:creationId xmlns:a16="http://schemas.microsoft.com/office/drawing/2014/main" id="{316F178E-3B4B-9B04-0FE1-74D71F7E5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26" y="307613"/>
            <a:ext cx="2318795" cy="885779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C2DE12FD-5770-E757-DE38-5C8C3F5CF11E}"/>
              </a:ext>
            </a:extLst>
          </p:cNvPr>
          <p:cNvSpPr txBox="1">
            <a:spLocks/>
          </p:cNvSpPr>
          <p:nvPr/>
        </p:nvSpPr>
        <p:spPr>
          <a:xfrm>
            <a:off x="871956" y="2755760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000" dirty="0"/>
              <a:t>Marcação de parâmetros simples da corrida.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B852B2F-5CF0-5769-305F-71365FDD8E18}"/>
              </a:ext>
            </a:extLst>
          </p:cNvPr>
          <p:cNvSpPr txBox="1">
            <a:spLocks/>
          </p:cNvSpPr>
          <p:nvPr/>
        </p:nvSpPr>
        <p:spPr>
          <a:xfrm>
            <a:off x="5987970" y="752440"/>
            <a:ext cx="6838709" cy="164149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4400" dirty="0"/>
              <a:t>Melhorias futuras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26709E3A-59E9-52A7-7E82-8EBABA7D97FD}"/>
              </a:ext>
            </a:extLst>
          </p:cNvPr>
          <p:cNvSpPr txBox="1">
            <a:spLocks/>
          </p:cNvSpPr>
          <p:nvPr/>
        </p:nvSpPr>
        <p:spPr>
          <a:xfrm>
            <a:off x="5987970" y="1947438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000" dirty="0"/>
              <a:t>Substituição do montagem eletrônica por algo mais compacto.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71BDB972-C277-0FA6-3638-10C77D9B690C}"/>
              </a:ext>
            </a:extLst>
          </p:cNvPr>
          <p:cNvSpPr txBox="1">
            <a:spLocks/>
          </p:cNvSpPr>
          <p:nvPr/>
        </p:nvSpPr>
        <p:spPr>
          <a:xfrm>
            <a:off x="5987969" y="2837527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000" dirty="0"/>
              <a:t>Utilização de um segundo acelerómetro para a perna esquerda.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3612A869-0ED4-DB7F-3A1E-9FD92225A2D8}"/>
              </a:ext>
            </a:extLst>
          </p:cNvPr>
          <p:cNvSpPr txBox="1">
            <a:spLocks/>
          </p:cNvSpPr>
          <p:nvPr/>
        </p:nvSpPr>
        <p:spPr>
          <a:xfrm>
            <a:off x="5987969" y="3792768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000" dirty="0"/>
              <a:t>Integração de uma segunda </a:t>
            </a:r>
            <a:r>
              <a:rPr lang="pt-PT" sz="2000" dirty="0" err="1"/>
              <a:t>WebCam</a:t>
            </a:r>
            <a:r>
              <a:rPr lang="pt-PT" sz="2000" dirty="0"/>
              <a:t> para uma segunda perspetiva.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11E18D-2AB0-732B-1BFF-C70A4E709D50}"/>
              </a:ext>
            </a:extLst>
          </p:cNvPr>
          <p:cNvSpPr txBox="1">
            <a:spLocks/>
          </p:cNvSpPr>
          <p:nvPr/>
        </p:nvSpPr>
        <p:spPr>
          <a:xfrm>
            <a:off x="5987969" y="4526926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000" dirty="0"/>
              <a:t>Melhorias na interface de controle.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6F5609CC-E97A-5118-EAF2-781F824D0002}"/>
              </a:ext>
            </a:extLst>
          </p:cNvPr>
          <p:cNvSpPr txBox="1">
            <a:spLocks/>
          </p:cNvSpPr>
          <p:nvPr/>
        </p:nvSpPr>
        <p:spPr>
          <a:xfrm>
            <a:off x="7517757" y="5631474"/>
            <a:ext cx="4674243" cy="740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2800" dirty="0"/>
              <a:t>E ainda vem muito mais!</a:t>
            </a:r>
          </a:p>
        </p:txBody>
      </p:sp>
    </p:spTree>
    <p:extLst>
      <p:ext uri="{BB962C8B-B14F-4D97-AF65-F5344CB8AC3E}">
        <p14:creationId xmlns:p14="http://schemas.microsoft.com/office/powerpoint/2010/main" val="419811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build="p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1687</TotalTime>
  <Words>300</Words>
  <Application>Microsoft Office PowerPoint</Application>
  <PresentationFormat>Ecrã Panorâmico</PresentationFormat>
  <Paragraphs>39</Paragraphs>
  <Slides>10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Corbel</vt:lpstr>
      <vt:lpstr>Profundidade</vt:lpstr>
      <vt:lpstr>PhysioMetrics</vt:lpstr>
      <vt:lpstr>Problema: Identificação de maus  hábitos de corrida</vt:lpstr>
      <vt:lpstr>Solução encontrada no mercado</vt:lpstr>
      <vt:lpstr>Nossa solução: Uma ferramenta  prática  e acessível</vt:lpstr>
      <vt:lpstr>Diagrama do sistema principal</vt:lpstr>
      <vt:lpstr>Um sistema para auxiliar  na deteção de hábitos  de corrida prejudiciais</vt:lpstr>
      <vt:lpstr>Utiliza uma montagem  eletrónica e um modelo  de AI treinado </vt:lpstr>
      <vt:lpstr>Como os dados são tratados no  computador?</vt:lpstr>
      <vt:lpstr>Sistema em funcionamento:</vt:lpstr>
      <vt:lpstr>Objetivos alcançados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Damasceno</dc:creator>
  <cp:lastModifiedBy>Thiago Damasceno</cp:lastModifiedBy>
  <cp:revision>1</cp:revision>
  <dcterms:created xsi:type="dcterms:W3CDTF">2025-06-02T14:27:03Z</dcterms:created>
  <dcterms:modified xsi:type="dcterms:W3CDTF">2026-10-10T14:30:30Z</dcterms:modified>
</cp:coreProperties>
</file>